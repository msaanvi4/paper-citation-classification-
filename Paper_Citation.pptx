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2B7A6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Naive Bayes</c:v>
                </c:pt>
                <c:pt idx="1">
                  <c:v>Random Forest</c:v>
                </c:pt>
                <c:pt idx="2">
                  <c:v>Neural Network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39.36</c:v>
                </c:pt>
                <c:pt idx="1">
                  <c:v>39.68</c:v>
                </c:pt>
                <c:pt idx="2">
                  <c:v>40.700000000000003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031-42F1-80F7-76A0449B8F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83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project: Paper Citation Classification. Problem statement: classify research papers into Low, Medium, or High citation-impact categories using titles, abstracts and metadata. The project compares Naive Bayes, Random Forest and a Neural Network. No content from the mortgage prepayment reference presentation is part of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grouping citation counts into three categories creates a manageable classification task. We predict a category from the available paper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current notebook defines Low as citations at or below 918, Medium as 919 through 1,384, and High above 1,384.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notebook confirms 102,000 training examples and 18,000 test examples. Citation count is used to generate the target and must not be passed directly to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Training distribution: Medium 34,637, Low 33,710, High 33,653. Test distribution: Medium 6,210, High 6,052, Low 5,738.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notebook fills missing titles and abstracts, combines them, applies TF-IDF, scales publication_year and author_count, and one-hot encodes primary_field. Transformations are fit on training data and applied to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TF-IDF gives each paper a vector of word and phrase weights. The notebook uses max_features 20,000, unigrams and bigrams, English stop words, min_df 3, max_df .95 and sublinear term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Naive Bayes uses TF-IDF text features. Random Forest uses combined text and metadata. The neural network uses TruncatedSVD to reduce the combined features to 200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Naive Bayes is the text-only baseline. Random Forest uses combined TF-IDF and metadata. The neural network uses 200-component TruncatedSVD features and an MLP with a 64-unit hidden layer, ReLU, Adam, batch size 256, up to 15 iterations and early stopping.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loading and labelling the data, splitting it, fitting preprocessing on train data, training the models, predicting test labels and comparing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Metrics from the notebook: Naive Bayes accuracy .3936, weighted precision .3853, recall .3936, F1 .3781; Random Forest accuracy .3968, precision .3980, recall .3968, F1 .3936; Neural Network accuracy .4070, precision .3989, recall .4070, F1 .3893.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models score around 39–41%, and the difference is small. The classes are roughly balanced, so a simple random baseline is around one-third accuracy. The results are modest and should not be overstated.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Confusion matrix values are transcribed from the user's screenshot. Verify axis order against the notebook plotting cell if the chart is regenerated.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results carefully. Neural Network leads on accuracy, while Random Forest has the highest weighted F1 among the displayed results. The differences are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Current labels are derived from the citation_count field. Unless that field represents future citations after a defined prediction date, describe this as classification of citation-count categories rather than future citation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the live demo, show dataset sizes, feature preprocessing, model training, the metrics table and confusion matrices. Add your repository URL after uploading project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summarizing the pipeline and modest baseline results. Add the exact dataset URL/version and GitHub repository before submission. The Stanford report is a reference, not the source of this project's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58200" y="-685800"/>
            <a:ext cx="4297680" cy="4297680"/>
          </a:xfrm>
          <a:prstGeom prst="ellipse">
            <a:avLst/>
          </a:prstGeom>
          <a:solidFill>
            <a:srgbClr val="1D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0"/>
            <a:ext cx="2926080" cy="2926080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46920" y="502920"/>
            <a:ext cx="1920240" cy="1920240"/>
          </a:xfrm>
          <a:prstGeom prst="ellipse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31552" y="987552"/>
            <a:ext cx="960120" cy="960120"/>
          </a:xfrm>
          <a:prstGeom prst="ellipse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23960" y="297180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0" y="297180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64040" y="297180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4080" y="297180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104120" y="297180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24160" y="297180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744200" y="297180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23960" y="329184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0" y="329184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64040" y="329184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784080" y="329184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04120" y="329184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424160" y="329184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4200" y="329184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23960" y="361188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0" y="361188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64040" y="361188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784080" y="3611880"/>
            <a:ext cx="109728" cy="109728"/>
          </a:xfrm>
          <a:prstGeom prst="ellipse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04120" y="361188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24160" y="361188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744200" y="361188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23960" y="393192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0" y="393192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464040" y="393192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784080" y="393192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04120" y="393192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24160" y="393192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744200" y="393192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823960" y="425196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144000" y="425196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464040" y="425196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784080" y="425196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104120" y="425196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424160" y="425196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744200" y="4251960"/>
            <a:ext cx="109728" cy="109728"/>
          </a:xfrm>
          <a:prstGeom prst="ellipse">
            <a:avLst/>
          </a:prstGeom>
          <a:solidFill>
            <a:srgbClr val="4B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66928"/>
            <a:ext cx="7040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 i="0">
                <a:solidFill>
                  <a:srgbClr val="F5B544"/>
                </a:solidFill>
                <a:latin typeface="Aptos"/>
              </a:rPr>
              <a:t>UE24CS352A  ·  MACHINE LEARNING  ·  MINI-PROJECT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170432"/>
            <a:ext cx="7498079" cy="1417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Paper Citation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2907792"/>
            <a:ext cx="274320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 i="0">
                <a:solidFill>
                  <a:srgbClr val="59C3DC"/>
                </a:solidFill>
                <a:latin typeface="Aptos"/>
              </a:rPr>
              <a:t>Problem Statement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310128"/>
            <a:ext cx="694944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0" i="0">
                <a:solidFill>
                  <a:srgbClr val="DAE4EF"/>
                </a:solidFill>
                <a:latin typeface="Aptos"/>
              </a:rPr>
              <a:t>Classify research papers into Low, Medium, or High citation-impact categories using their titles, abstracts, and metadata.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572000"/>
            <a:ext cx="5486400" cy="621792"/>
          </a:xfrm>
          <a:prstGeom prst="roundRect">
            <a:avLst/>
          </a:prstGeom>
          <a:solidFill>
            <a:srgbClr val="1D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7552" y="4773168"/>
            <a:ext cx="507492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Naive Bayes  ·  Random Forest  ·  Neural 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715000"/>
            <a:ext cx="71323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 i="0">
                <a:solidFill>
                  <a:srgbClr val="B9C7D8"/>
                </a:solidFill>
                <a:latin typeface="Aptos"/>
              </a:rPr>
              <a:t>Chinni Krishna Reddy  ·  Saanvi Maharana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144768"/>
            <a:ext cx="71323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 i="1">
                <a:solidFill>
                  <a:srgbClr val="91A3B9"/>
                </a:solidFill>
                <a:latin typeface="Aptos"/>
              </a:rPr>
              <a:t>Citation classification from paper text and metadata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Why classify paper citations?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Research impact is useful, but citation counts are difficult to predict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36776"/>
            <a:ext cx="315467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Research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39112"/>
            <a:ext cx="3127248" cy="12344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Help readers identify papers that may attract different levels of scholarly attention.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508760"/>
            <a:ext cx="64008" cy="1828800"/>
          </a:xfrm>
          <a:prstGeom prst="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636776"/>
            <a:ext cx="315467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Text contains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127248" cy="12344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Titles and abstracts describe the topic, terminology and scope of a paper.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508760"/>
            <a:ext cx="64008" cy="1828800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3" y="1636776"/>
            <a:ext cx="315467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Metadata adds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039112"/>
            <a:ext cx="3127248" cy="12344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Publication year, author count and research field provide additional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39"/>
            <a:ext cx="10744200" cy="132588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224528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9C3DC"/>
                </a:solidFill>
                <a:latin typeface="Aptos"/>
              </a:rPr>
              <a:t>OUR PREDICTION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996696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Given a paper's title, abstract and metadata, predict Low, Medium or High citation category.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47384"/>
                </a:solidFill>
                <a:latin typeface="Aptos"/>
              </a:rPr>
              <a:t>This is classification, not exact citation-count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Problem definition and target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The model learns from historical citation counts and predicts a three-class label.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1089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36776"/>
            <a:ext cx="27889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39112"/>
            <a:ext cx="2761488" cy="12344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Title · Abstract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Publication year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Author count · Primary field</a:t>
            </a:r>
          </a:p>
        </p:txBody>
      </p:sp>
      <p:sp>
        <p:nvSpPr>
          <p:cNvPr id="11" name="Chevron 10"/>
          <p:cNvSpPr/>
          <p:nvPr/>
        </p:nvSpPr>
        <p:spPr>
          <a:xfrm>
            <a:off x="3977639" y="2057400"/>
            <a:ext cx="685800" cy="640080"/>
          </a:xfrm>
          <a:prstGeom prst="chevron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46320" y="1508760"/>
            <a:ext cx="2743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0" y="1508760"/>
            <a:ext cx="64008" cy="1828800"/>
          </a:xfrm>
          <a:prstGeom prst="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636776"/>
            <a:ext cx="2423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ML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39112"/>
            <a:ext cx="2395728" cy="12344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Text vectorization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Metadata encoding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Model training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7818120" y="2057400"/>
            <a:ext cx="685800" cy="640080"/>
          </a:xfrm>
          <a:prstGeom prst="chevron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0" y="15087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0" y="1508760"/>
            <a:ext cx="64008" cy="1828800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1636776"/>
            <a:ext cx="23317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039112"/>
            <a:ext cx="2304288" cy="12344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Low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Medium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63242"/>
                </a:solidFill>
                <a:latin typeface="Aptos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49377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Thresholds used in the current notebook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34840"/>
            <a:ext cx="10241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718304"/>
            <a:ext cx="978408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Low: ≤ 918 citations     |     Medium: 919–1,384     |     High: &gt; 1,384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0584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47384"/>
                </a:solidFill>
                <a:latin typeface="Aptos"/>
              </a:rPr>
              <a:t>These cutoffs are dataset-specific; update if you revise the label-generation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A 120,000-paper working dataset with bibliographic text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645919"/>
            <a:ext cx="2377439" cy="4754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22B7A6"/>
                </a:solidFill>
                <a:latin typeface="Aptos"/>
              </a:rPr>
              <a:t>120,000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203704"/>
            <a:ext cx="237743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22038"/>
                </a:solidFill>
                <a:latin typeface="Aptos"/>
              </a:rPr>
              <a:t>Total 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560320"/>
            <a:ext cx="237743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Current experiment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0876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645919"/>
            <a:ext cx="2377439" cy="4754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59C3DC"/>
                </a:solidFill>
                <a:latin typeface="Aptos"/>
              </a:rPr>
              <a:t>102,000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03704"/>
            <a:ext cx="237743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22038"/>
                </a:solidFill>
                <a:latin typeface="Aptos"/>
              </a:rPr>
              <a:t>Training papers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560320"/>
            <a:ext cx="237743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85% of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50876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79" y="1645919"/>
            <a:ext cx="2377439" cy="4754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F5B544"/>
                </a:solidFill>
                <a:latin typeface="Aptos"/>
              </a:rPr>
              <a:t>18,000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203704"/>
            <a:ext cx="237743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22038"/>
                </a:solidFill>
                <a:latin typeface="Aptos"/>
              </a:rPr>
              <a:t>Testing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560320"/>
            <a:ext cx="237743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15% held 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50876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1645919"/>
            <a:ext cx="2377439" cy="4754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369A70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203704"/>
            <a:ext cx="237743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22038"/>
                </a:solidFill>
                <a:latin typeface="Aptos"/>
              </a:rPr>
              <a:t>Target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560320"/>
            <a:ext cx="2377439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Low · Medium ·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74720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Features used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014215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931920"/>
            <a:ext cx="10222992" cy="35661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Title and abstract — text description of each paper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370831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288536"/>
            <a:ext cx="10222992" cy="35661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Publication year — publication timing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4727448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" y="4645152"/>
            <a:ext cx="10222992" cy="35661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Author count — size of author group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084064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5001768"/>
            <a:ext cx="10222992" cy="35661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Primary field — research-area metadata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5440679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" y="5358383"/>
            <a:ext cx="10222992" cy="35661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Citation count creates the label; it is not an input feature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Class distribution and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The classes are reasonably balanced in the current train/test split.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Training set · 102,000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9601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3242"/>
                </a:solidFill>
                <a:latin typeface="Aptos"/>
              </a:rP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938528"/>
            <a:ext cx="2834640" cy="274320"/>
          </a:xfrm>
          <a:prstGeom prst="round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938528"/>
            <a:ext cx="137160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34,637 (34.0%)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96896"/>
            <a:ext cx="9601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3242"/>
                </a:solidFill>
                <a:latin typeface="Aptos"/>
              </a:rPr>
              <a:t>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596896"/>
            <a:ext cx="2758775" cy="274320"/>
          </a:xfrm>
          <a:prstGeom prst="round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596896"/>
            <a:ext cx="137160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33,710 (33.0%)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55264"/>
            <a:ext cx="9601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3242"/>
                </a:solidFill>
                <a:latin typeface="Aptos"/>
              </a:rPr>
              <a:t>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255264"/>
            <a:ext cx="2754110" cy="274320"/>
          </a:xfrm>
          <a:prstGeom prst="round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3255264"/>
            <a:ext cx="137160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33,653 (33.0%)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45720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Testing set · 18,000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38528"/>
            <a:ext cx="9601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3242"/>
                </a:solidFill>
                <a:latin typeface="Aptos"/>
              </a:rPr>
              <a:t>Medium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938528"/>
            <a:ext cx="2331720" cy="274320"/>
          </a:xfrm>
          <a:prstGeom prst="round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1938528"/>
            <a:ext cx="132588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6,210 (34.5%)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96896"/>
            <a:ext cx="9601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3242"/>
                </a:solidFill>
                <a:latin typeface="Aptos"/>
              </a:rPr>
              <a:t>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596896"/>
            <a:ext cx="2272394" cy="274320"/>
          </a:xfrm>
          <a:prstGeom prst="round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29800" y="2596896"/>
            <a:ext cx="132588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6,052 (33.6%)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55264"/>
            <a:ext cx="9601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3242"/>
                </a:solidFill>
                <a:latin typeface="Aptos"/>
              </a:rPr>
              <a:t>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3255264"/>
            <a:ext cx="2154494" cy="274320"/>
          </a:xfrm>
          <a:prstGeom prst="round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3255264"/>
            <a:ext cx="132588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5,738 (31.9%)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343400"/>
            <a:ext cx="10561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572000"/>
            <a:ext cx="164592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Why it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526280"/>
            <a:ext cx="813816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The three classes are close to one-third each. Still, per-class precision, recall and F1 are needed to understand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Data preparation and text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Preparing raw paper information for machine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0292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141732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36776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01 · Handle missing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4681728" cy="8229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Missing titles and abstracts are replaced with empty strings.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0292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64008" cy="1417320"/>
          </a:xfrm>
          <a:prstGeom prst="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636776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02 · Combine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39112"/>
            <a:ext cx="4681728" cy="8229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Title and abstract are joined into a paper_text field.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64008" cy="1417320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374136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03 · TF-IDF vectorization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4681728" cy="8229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Create up to 20,000 text features using unigrams and bigrams.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46120"/>
            <a:ext cx="50292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246120"/>
            <a:ext cx="64008" cy="1417320"/>
          </a:xfrm>
          <a:prstGeom prst="rect">
            <a:avLst/>
          </a:prstGeom>
          <a:solidFill>
            <a:srgbClr val="36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374136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04 · Encode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76472"/>
            <a:ext cx="4681728" cy="8229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Scale numeric metadata and one-hot encode the primary field.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1042416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2555A"/>
                </a:solidFill>
                <a:latin typeface="Aptos"/>
              </a:rPr>
              <a:t>Safeguard: fit preprocessing on training data only, then transform the test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How TF-IDF represents research papers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Text is converted into numeric features that machine-learning models can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200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196596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82495"/>
            <a:ext cx="28803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RAW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1"/>
            <a:ext cx="2852928" cy="1371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Title + abstract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Example: “Graph neural networks for scientific document classification”</a:t>
            </a:r>
          </a:p>
        </p:txBody>
      </p:sp>
      <p:sp>
        <p:nvSpPr>
          <p:cNvPr id="11" name="Chevron 10"/>
          <p:cNvSpPr/>
          <p:nvPr/>
        </p:nvSpPr>
        <p:spPr>
          <a:xfrm>
            <a:off x="4069080" y="2148840"/>
            <a:ext cx="640080" cy="640080"/>
          </a:xfrm>
          <a:prstGeom prst="chevron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46320" y="1554480"/>
            <a:ext cx="30175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0" y="1554480"/>
            <a:ext cx="64008" cy="1965960"/>
          </a:xfrm>
          <a:prstGeom prst="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682495"/>
            <a:ext cx="269747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TOKEN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84831"/>
            <a:ext cx="2670048" cy="1371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Words and two-word phrases</a:t>
            </a: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“graph”, “neural networks”, “document classification”</a:t>
            </a:r>
          </a:p>
        </p:txBody>
      </p:sp>
      <p:sp>
        <p:nvSpPr>
          <p:cNvPr id="16" name="Chevron 15"/>
          <p:cNvSpPr/>
          <p:nvPr/>
        </p:nvSpPr>
        <p:spPr>
          <a:xfrm>
            <a:off x="8001000" y="2148840"/>
            <a:ext cx="640080" cy="640080"/>
          </a:xfrm>
          <a:prstGeom prst="chevron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78240" y="1554480"/>
            <a:ext cx="25603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78240" y="1554480"/>
            <a:ext cx="64008" cy="1965960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19" y="1682495"/>
            <a:ext cx="224027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TF-IDF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084831"/>
            <a:ext cx="2212848" cy="1371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Sparse numeric vector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Vocabulary: up to 20,000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22860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Notebook settings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517136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4434840"/>
            <a:ext cx="4553712" cy="2834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max_features = 20,000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800599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4718303"/>
            <a:ext cx="4553712" cy="2834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ngram_range = (1, 2)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5084064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5001768"/>
            <a:ext cx="4553712" cy="2834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English stop words removed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367527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" y="5285231"/>
            <a:ext cx="4553712" cy="2834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min_df = 3; max_df = 0.95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650992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5568696"/>
            <a:ext cx="4553712" cy="283464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sublinear_tf = True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4343400"/>
            <a:ext cx="5120640" cy="128016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4572000"/>
            <a:ext cx="146304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9C3DC"/>
                </a:solidFill>
                <a:latin typeface="Aptos"/>
              </a:rPr>
              <a:t>Why it helps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526280"/>
            <a:ext cx="3063240" cy="5943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Terms that distinguish papers can contribute more than words that appear everywhere.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Feature engineering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The experiment combines paper text with selected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4008" cy="114300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2423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TEXT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2395728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Title + abstract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TF-IDF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8036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64008" cy="1143000"/>
          </a:xfrm>
          <a:prstGeom prst="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008376"/>
            <a:ext cx="2423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NUMERIC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10712"/>
            <a:ext cx="2395728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Publication year · author count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StandardScaler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9768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297680"/>
            <a:ext cx="64008" cy="1143000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25696"/>
            <a:ext cx="2423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CATEGORY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28032"/>
            <a:ext cx="2395728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Primary field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One-hot encoding</a:t>
            </a:r>
          </a:p>
        </p:txBody>
      </p:sp>
      <p:sp>
        <p:nvSpPr>
          <p:cNvPr id="19" name="Chevron 18"/>
          <p:cNvSpPr/>
          <p:nvPr/>
        </p:nvSpPr>
        <p:spPr>
          <a:xfrm>
            <a:off x="3794760" y="2743200"/>
            <a:ext cx="640080" cy="640080"/>
          </a:xfrm>
          <a:prstGeom prst="chevron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09160" y="2148840"/>
            <a:ext cx="2743200" cy="182880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2514600"/>
            <a:ext cx="228600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Combined feature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154680"/>
            <a:ext cx="228600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D7E2EE"/>
                </a:solidFill>
                <a:latin typeface="Aptos"/>
              </a:rPr>
              <a:t>Text + encoded metadata</a:t>
            </a:r>
          </a:p>
        </p:txBody>
      </p:sp>
      <p:sp>
        <p:nvSpPr>
          <p:cNvPr id="23" name="Chevron 22"/>
          <p:cNvSpPr/>
          <p:nvPr/>
        </p:nvSpPr>
        <p:spPr>
          <a:xfrm>
            <a:off x="7818120" y="2743200"/>
            <a:ext cx="640080" cy="640080"/>
          </a:xfrm>
          <a:prstGeom prst="chevron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0" y="214884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86800" y="2148840"/>
            <a:ext cx="64008" cy="1828800"/>
          </a:xfrm>
          <a:prstGeom prst="rect">
            <a:avLst/>
          </a:prstGeom>
          <a:solidFill>
            <a:srgbClr val="36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0" y="2276856"/>
            <a:ext cx="2240279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CLASSIFIERS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679192"/>
            <a:ext cx="2212848" cy="12344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Naive Bayes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Random Forest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Neural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46320"/>
            <a:ext cx="68580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47384"/>
                </a:solidFill>
                <a:latin typeface="Aptos"/>
              </a:rPr>
              <a:t>For the neural network, TruncatedSVD reduces the combined feature matrix to 200 components.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Three models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Different algorithms learn different patterns from the classification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64008" cy="338328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36776"/>
            <a:ext cx="32004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01 · Naive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39112"/>
            <a:ext cx="3172968" cy="2788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Probabilistic classifier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Uses TF-IDF text features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Fast baseline for document classification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Assumes conditional independence of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64008" cy="3383280"/>
          </a:xfrm>
          <a:prstGeom prst="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36776"/>
            <a:ext cx="32004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02 · 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39112"/>
            <a:ext cx="3172968" cy="2788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Ensemble of decision trees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Uses text and metadata features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Captures nonlinear relationships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Combines predictions from many trees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64008" cy="3383280"/>
          </a:xfrm>
          <a:prstGeom prst="rect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636776"/>
            <a:ext cx="32004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03 · Neural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39112"/>
            <a:ext cx="3172968" cy="2788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Multi-layer perceptron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Uses SVD-reduced features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Learns nonlinear feature combinations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Adam optimizer and early stopping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03520"/>
            <a:ext cx="10241280" cy="59436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5486400"/>
            <a:ext cx="978408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Same train/test examples and target labels; model-specific feature representations.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End-to-end experimental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From labelled dataset to held-out test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600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4984" y="1481328"/>
            <a:ext cx="530352" cy="530352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4" y="1636776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31720"/>
            <a:ext cx="13716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2038"/>
                </a:solidFill>
                <a:latin typeface="Aptos"/>
              </a:rPr>
              <a:t>Load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852928"/>
            <a:ext cx="13716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120,000 papers</a:t>
            </a:r>
          </a:p>
        </p:txBody>
      </p:sp>
      <p:sp>
        <p:nvSpPr>
          <p:cNvPr id="12" name="Chevron 11"/>
          <p:cNvSpPr/>
          <p:nvPr/>
        </p:nvSpPr>
        <p:spPr>
          <a:xfrm>
            <a:off x="2130552" y="2606040"/>
            <a:ext cx="228600" cy="320040"/>
          </a:xfrm>
          <a:prstGeom prst="chevron">
            <a:avLst/>
          </a:prstGeom>
          <a:solidFill>
            <a:srgbClr val="D2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441448" y="1920240"/>
            <a:ext cx="1600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53512" y="1481328"/>
            <a:ext cx="530352" cy="530352"/>
          </a:xfrm>
          <a:prstGeom prst="ellipse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3512" y="1636776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2331720"/>
            <a:ext cx="13716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2038"/>
                </a:solidFill>
                <a:latin typeface="Aptos"/>
              </a:rPr>
              <a:t>Create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176" y="2852928"/>
            <a:ext cx="13716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Low / Medium / High</a:t>
            </a:r>
          </a:p>
        </p:txBody>
      </p:sp>
      <p:sp>
        <p:nvSpPr>
          <p:cNvPr id="18" name="Chevron 17"/>
          <p:cNvSpPr/>
          <p:nvPr/>
        </p:nvSpPr>
        <p:spPr>
          <a:xfrm>
            <a:off x="4069080" y="2606040"/>
            <a:ext cx="228600" cy="320040"/>
          </a:xfrm>
          <a:prstGeom prst="chevron">
            <a:avLst/>
          </a:prstGeom>
          <a:solidFill>
            <a:srgbClr val="D2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79976" y="1920240"/>
            <a:ext cx="1600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92040" y="1481328"/>
            <a:ext cx="530352" cy="530352"/>
          </a:xfrm>
          <a:prstGeom prst="ellipse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636776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2331720"/>
            <a:ext cx="13716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2038"/>
                </a:solidFill>
                <a:latin typeface="Aptos"/>
              </a:rPr>
              <a:t>Split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2852928"/>
            <a:ext cx="13716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102k train · 18k test</a:t>
            </a:r>
          </a:p>
        </p:txBody>
      </p:sp>
      <p:sp>
        <p:nvSpPr>
          <p:cNvPr id="24" name="Chevron 23"/>
          <p:cNvSpPr/>
          <p:nvPr/>
        </p:nvSpPr>
        <p:spPr>
          <a:xfrm>
            <a:off x="6007608" y="2606040"/>
            <a:ext cx="228600" cy="320040"/>
          </a:xfrm>
          <a:prstGeom prst="chevron">
            <a:avLst/>
          </a:prstGeom>
          <a:solidFill>
            <a:srgbClr val="D2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18504" y="1920240"/>
            <a:ext cx="1600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30568" y="1481328"/>
            <a:ext cx="530352" cy="530352"/>
          </a:xfrm>
          <a:prstGeom prst="ellipse">
            <a:avLst/>
          </a:prstGeom>
          <a:solidFill>
            <a:srgbClr val="36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1636776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331720"/>
            <a:ext cx="13716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2038"/>
                </a:solidFill>
                <a:latin typeface="Aptos"/>
              </a:rPr>
              <a:t>Transform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2852928"/>
            <a:ext cx="13716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TF-IDF + metadata</a:t>
            </a:r>
          </a:p>
        </p:txBody>
      </p:sp>
      <p:sp>
        <p:nvSpPr>
          <p:cNvPr id="30" name="Chevron 29"/>
          <p:cNvSpPr/>
          <p:nvPr/>
        </p:nvSpPr>
        <p:spPr>
          <a:xfrm>
            <a:off x="7946136" y="2606040"/>
            <a:ext cx="228600" cy="320040"/>
          </a:xfrm>
          <a:prstGeom prst="chevron">
            <a:avLst/>
          </a:prstGeom>
          <a:solidFill>
            <a:srgbClr val="D2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57032" y="1920240"/>
            <a:ext cx="1600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769096" y="1481328"/>
            <a:ext cx="530352" cy="530352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6" y="1636776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331720"/>
            <a:ext cx="13716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2038"/>
                </a:solidFill>
                <a:latin typeface="Aptos"/>
              </a:rPr>
              <a:t>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852928"/>
            <a:ext cx="13716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NB · RF · MLP</a:t>
            </a:r>
          </a:p>
        </p:txBody>
      </p:sp>
      <p:sp>
        <p:nvSpPr>
          <p:cNvPr id="36" name="Chevron 35"/>
          <p:cNvSpPr/>
          <p:nvPr/>
        </p:nvSpPr>
        <p:spPr>
          <a:xfrm>
            <a:off x="9884664" y="2606040"/>
            <a:ext cx="228600" cy="320040"/>
          </a:xfrm>
          <a:prstGeom prst="chevron">
            <a:avLst/>
          </a:prstGeom>
          <a:solidFill>
            <a:srgbClr val="D2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195560" y="1920240"/>
            <a:ext cx="1600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707624" y="1481328"/>
            <a:ext cx="530352" cy="530352"/>
          </a:xfrm>
          <a:prstGeom prst="ellipse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07624" y="1636776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5288" y="2331720"/>
            <a:ext cx="137160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2038"/>
                </a:solidFill>
                <a:latin typeface="Aptos"/>
              </a:rPr>
              <a:t>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5288" y="2852928"/>
            <a:ext cx="137160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63242"/>
                </a:solidFill>
                <a:latin typeface="Aptos"/>
              </a:rPr>
              <a:t>Accuracy, P/R/F1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4572000"/>
            <a:ext cx="10241280" cy="77724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4440" y="4828032"/>
            <a:ext cx="969264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Test data is held out from model fitting and used for final performance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Results: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Numbers transcribed from the current Colab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744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Precision*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Recall*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F1-score*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39.36%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38.53%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39.36%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37.81%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39.68%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39.80%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39.68%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038"/>
                          </a:solidFill>
                          <a:latin typeface="Aptos"/>
                        </a:rPr>
                        <a:t>39.36%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2038"/>
                          </a:solidFill>
                          <a:latin typeface="Aptos"/>
                        </a:rPr>
                        <a:t>Neural Network</a:t>
                      </a:r>
                    </a:p>
                  </a:txBody>
                  <a:tcPr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038"/>
                          </a:solidFill>
                          <a:latin typeface="Aptos"/>
                        </a:rPr>
                        <a:t>40.70%</a:t>
                      </a:r>
                    </a:p>
                  </a:txBody>
                  <a:tcPr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038"/>
                          </a:solidFill>
                          <a:latin typeface="Aptos"/>
                        </a:rPr>
                        <a:t>39.89%</a:t>
                      </a:r>
                    </a:p>
                  </a:txBody>
                  <a:tcPr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038"/>
                          </a:solidFill>
                          <a:latin typeface="Aptos"/>
                        </a:rPr>
                        <a:t>40.70%</a:t>
                      </a:r>
                    </a:p>
                  </a:txBody>
                  <a:tcPr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038"/>
                          </a:solidFill>
                          <a:latin typeface="Aptos"/>
                        </a:rPr>
                        <a:t>38.93%</a:t>
                      </a:r>
                    </a:p>
                  </a:txBody>
                  <a:tcPr>
                    <a:solidFill>
                      <a:srgbClr val="E8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096512"/>
            <a:ext cx="731520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47384"/>
                </a:solidFill>
                <a:latin typeface="Aptos"/>
              </a:rPr>
              <a:t>* Weighted averages, as shown in the notebook's comparison table.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4343400"/>
          <a:ext cx="56692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32320" y="4526280"/>
            <a:ext cx="3931920" cy="123444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60920" y="4718304"/>
            <a:ext cx="3474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9C3DC"/>
                </a:solidFill>
                <a:latin typeface="Aptos"/>
              </a:rPr>
              <a:t>Highest accuracy in this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5074920"/>
            <a:ext cx="347472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Neural Network · 40.70%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How should we interpret the scores?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The highest accuracy is not the whole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29260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39"/>
            <a:ext cx="2743200" cy="4754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22B7A6"/>
                </a:solidFill>
                <a:latin typeface="Aptos"/>
              </a:rPr>
              <a:t>40.70%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22038"/>
                </a:solidFill>
                <a:latin typeface="Aptos"/>
              </a:rPr>
              <a:t>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39"/>
            <a:ext cx="2743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Highest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554480"/>
            <a:ext cx="29260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1691639"/>
            <a:ext cx="2743200" cy="4754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59C3DC"/>
                </a:solidFill>
                <a:latin typeface="Aptos"/>
              </a:rPr>
              <a:t>39.68%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249424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22038"/>
                </a:solidFill>
                <a:latin typeface="Aptos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06039"/>
            <a:ext cx="2743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Close to neural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554480"/>
            <a:ext cx="29260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1691639"/>
            <a:ext cx="2743200" cy="4754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F5B544"/>
                </a:solidFill>
                <a:latin typeface="Aptos"/>
              </a:rPr>
              <a:t>39.36%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49424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22038"/>
                </a:solidFill>
                <a:latin typeface="Aptos"/>
              </a:rPr>
              <a:t>Naive Bayes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606039"/>
            <a:ext cx="27432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Text-only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94760"/>
            <a:ext cx="49834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794760"/>
            <a:ext cx="64008" cy="150876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922776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What results suggest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25112"/>
            <a:ext cx="4636008" cy="91439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All models perform in a similar range; the current features may limit class separation.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94760"/>
            <a:ext cx="498348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794760"/>
            <a:ext cx="64008" cy="1508760"/>
          </a:xfrm>
          <a:prstGeom prst="rect">
            <a:avLst/>
          </a:prstGeom>
          <a:solidFill>
            <a:srgbClr val="D2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922776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What not to claim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25112"/>
            <a:ext cx="4636008" cy="914399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3242"/>
                </a:solidFill>
                <a:latin typeface="Aptos"/>
              </a:rPr>
              <a:t>The small accuracy gap does not prove that the Neural Network is definitively superior.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47384"/>
                </a:solidFill>
                <a:latin typeface="Aptos"/>
              </a:rPr>
              <a:t>Three roughly balanced classes imply a simple one-third baseline; these models improve on that, but performance remains modest.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Confusion matrices: where predictions go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Rows are actual classes; columns are predicted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18488"/>
            <a:ext cx="320040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Naive Bayes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965960"/>
            <a:ext cx="877824" cy="512064"/>
          </a:xfrm>
          <a:prstGeom prst="rect">
            <a:avLst/>
          </a:prstGeom>
          <a:solidFill>
            <a:srgbClr val="AEB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2336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9112" y="1965960"/>
            <a:ext cx="877824" cy="512064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39112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1202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5224" y="1965960"/>
            <a:ext cx="877824" cy="512064"/>
          </a:xfrm>
          <a:prstGeom prst="rect">
            <a:avLst/>
          </a:prstGeom>
          <a:solidFill>
            <a:srgbClr val="B1B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35224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496312"/>
            <a:ext cx="877824" cy="512064"/>
          </a:xfrm>
          <a:prstGeom prst="rect">
            <a:avLst/>
          </a:prstGeom>
          <a:solidFill>
            <a:srgbClr val="B0B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2247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9112" y="2496312"/>
            <a:ext cx="877824" cy="512064"/>
          </a:xfrm>
          <a:prstGeom prst="rect">
            <a:avLst/>
          </a:prstGeom>
          <a:solidFill>
            <a:srgbClr val="CBD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39112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1272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35224" y="2496312"/>
            <a:ext cx="877824" cy="512064"/>
          </a:xfrm>
          <a:prstGeom prst="rect">
            <a:avLst/>
          </a:prstGeom>
          <a:solidFill>
            <a:srgbClr val="A4A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35224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2691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026663"/>
            <a:ext cx="877824" cy="512064"/>
          </a:xfrm>
          <a:prstGeom prst="rect">
            <a:avLst/>
          </a:prstGeom>
          <a:solidFill>
            <a:srgbClr val="C5C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1469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9112" y="3026663"/>
            <a:ext cx="877824" cy="512064"/>
          </a:xfrm>
          <a:prstGeom prst="rect">
            <a:avLst/>
          </a:prstGeom>
          <a:solidFill>
            <a:srgbClr val="CF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39112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1107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35224" y="3026663"/>
            <a:ext cx="877824" cy="512064"/>
          </a:xfrm>
          <a:prstGeom prst="rect">
            <a:avLst/>
          </a:prstGeom>
          <a:solidFill>
            <a:srgbClr val="8F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35224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3476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35224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103120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633472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163823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1618488"/>
            <a:ext cx="320040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Random Forest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1965960"/>
            <a:ext cx="877824" cy="512064"/>
          </a:xfrm>
          <a:prstGeom prst="rect">
            <a:avLst/>
          </a:prstGeom>
          <a:solidFill>
            <a:srgbClr val="B6B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1640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13831" y="1965960"/>
            <a:ext cx="877824" cy="512064"/>
          </a:xfrm>
          <a:prstGeom prst="rect">
            <a:avLst/>
          </a:prstGeom>
          <a:solidFill>
            <a:srgbClr val="999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13831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2496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9944" y="1965960"/>
            <a:ext cx="877824" cy="512064"/>
          </a:xfrm>
          <a:prstGeom prst="rect">
            <a:avLst/>
          </a:prstGeom>
          <a:solidFill>
            <a:srgbClr val="B7B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9944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1602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2496312"/>
            <a:ext cx="877824" cy="512064"/>
          </a:xfrm>
          <a:prstGeom prst="rect">
            <a:avLst/>
          </a:prstGeom>
          <a:solidFill>
            <a:srgbClr val="B8B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1562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13831" y="2496312"/>
            <a:ext cx="877824" cy="512064"/>
          </a:xfrm>
          <a:prstGeom prst="rect">
            <a:avLst/>
          </a:prstGeom>
          <a:solidFill>
            <a:srgbClr val="91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13831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2712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9944" y="2496312"/>
            <a:ext cx="877824" cy="512064"/>
          </a:xfrm>
          <a:prstGeom prst="rect">
            <a:avLst/>
          </a:prstGeom>
          <a:solidFill>
            <a:srgbClr val="ACB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9944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1936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7720" y="3026663"/>
            <a:ext cx="877824" cy="512064"/>
          </a:xfrm>
          <a:prstGeom prst="rect">
            <a:avLst/>
          </a:prstGeom>
          <a:solidFill>
            <a:srgbClr val="CC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17720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996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13831" y="3026663"/>
            <a:ext cx="877824" cy="512064"/>
          </a:xfrm>
          <a:prstGeom prst="rect">
            <a:avLst/>
          </a:prstGeom>
          <a:solidFill>
            <a:srgbClr val="A0A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13831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2265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9944" y="3026663"/>
            <a:ext cx="877824" cy="512064"/>
          </a:xfrm>
          <a:prstGeom prst="rect">
            <a:avLst/>
          </a:prstGeom>
          <a:solidFill>
            <a:srgbClr val="8F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9944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2791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13831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Medium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9944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High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2103120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2633472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3163823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1618488"/>
            <a:ext cx="320040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22038"/>
                </a:solidFill>
                <a:latin typeface="Aptos"/>
              </a:rPr>
              <a:t>Neural Network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92440" y="1965960"/>
            <a:ext cx="877824" cy="512064"/>
          </a:xfrm>
          <a:prstGeom prst="rect">
            <a:avLst/>
          </a:prstGeom>
          <a:solidFill>
            <a:srgbClr val="9A9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92440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2887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8552" y="1965960"/>
            <a:ext cx="877824" cy="512064"/>
          </a:xfrm>
          <a:prstGeom prst="rect">
            <a:avLst/>
          </a:prstGeom>
          <a:solidFill>
            <a:srgbClr val="CFD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88552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1052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84663" y="1965960"/>
            <a:ext cx="877824" cy="512064"/>
          </a:xfrm>
          <a:prstGeom prst="rect">
            <a:avLst/>
          </a:prstGeom>
          <a:solidFill>
            <a:srgbClr val="B9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84663" y="2103120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1799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2440" y="2496312"/>
            <a:ext cx="877824" cy="512064"/>
          </a:xfrm>
          <a:prstGeom prst="rect">
            <a:avLst/>
          </a:prstGeom>
          <a:solidFill>
            <a:srgbClr val="9DA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92440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2766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2496312"/>
            <a:ext cx="877824" cy="512064"/>
          </a:xfrm>
          <a:prstGeom prst="rect">
            <a:avLst/>
          </a:prstGeom>
          <a:solidFill>
            <a:srgbClr val="CC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88552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1167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84663" y="2496312"/>
            <a:ext cx="877824" cy="512064"/>
          </a:xfrm>
          <a:prstGeom prst="rect">
            <a:avLst/>
          </a:prstGeom>
          <a:solidFill>
            <a:srgbClr val="ABB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884663" y="2633472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2277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2440" y="3026663"/>
            <a:ext cx="877824" cy="512064"/>
          </a:xfrm>
          <a:prstGeom prst="rect">
            <a:avLst/>
          </a:prstGeom>
          <a:solidFill>
            <a:srgbClr val="B9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92440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1793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88552" y="3026663"/>
            <a:ext cx="877824" cy="512064"/>
          </a:xfrm>
          <a:prstGeom prst="rect">
            <a:avLst/>
          </a:prstGeom>
          <a:solidFill>
            <a:srgbClr val="D1D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988552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987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84663" y="3026663"/>
            <a:ext cx="877824" cy="512064"/>
          </a:xfrm>
          <a:prstGeom prst="rect">
            <a:avLst/>
          </a:prstGeom>
          <a:solidFill>
            <a:srgbClr val="8F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84663" y="3163823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3272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Low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Medium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84663" y="3593591"/>
            <a:ext cx="877824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High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9519" y="2103120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Low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19" y="2633472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Medium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9519" y="3163823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High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" y="4709160"/>
            <a:ext cx="10058400" cy="2743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Diagonal cells are correct predictions; off-diagonal cells are errors.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68680" y="5212080"/>
            <a:ext cx="104241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97280" y="5394960"/>
            <a:ext cx="996696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22038"/>
                </a:solidFill>
                <a:latin typeface="Aptos"/>
              </a:rPr>
              <a:t>The matrices show substantial confusion between classes, consistent with the modest overall scores.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What we learned from the first model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536192"/>
            <a:ext cx="502920" cy="502920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39"/>
            <a:ext cx="50292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08760"/>
            <a:ext cx="41148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Neural Network has the highest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508760"/>
            <a:ext cx="548640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40.70%, only slightly above Random Forest.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715768"/>
            <a:ext cx="50292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32888"/>
            <a:ext cx="41148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Random Forest has the highest weighted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532888"/>
            <a:ext cx="548640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39.36%, showing a slightly stronger balance across classes.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584448"/>
            <a:ext cx="502920" cy="502920"/>
          </a:xfrm>
          <a:prstGeom prst="ellipse">
            <a:avLst/>
          </a:prstGeom>
          <a:solidFill>
            <a:srgbClr val="F5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739896"/>
            <a:ext cx="50292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6"/>
            <a:ext cx="41148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Text and metadata provide useful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557016"/>
            <a:ext cx="548640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But citation impact depends on more than paper wording.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608576"/>
            <a:ext cx="502920" cy="502920"/>
          </a:xfrm>
          <a:prstGeom prst="ellipse">
            <a:avLst/>
          </a:prstGeom>
          <a:solidFill>
            <a:srgbClr val="369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764024"/>
            <a:ext cx="50292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81144"/>
            <a:ext cx="4114800" cy="2926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22038"/>
                </a:solidFill>
                <a:latin typeface="Aptos"/>
              </a:rPr>
              <a:t>Class-level errors remain substantial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581144"/>
            <a:ext cx="548640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The confusion matrices show many incorrect category predictions.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Limitations and 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A transparent account of what the current experiment does—and does not—show.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0749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3520440"/>
          </a:xfrm>
          <a:prstGeom prst="rect">
            <a:avLst/>
          </a:prstGeom>
          <a:solidFill>
            <a:srgbClr val="D2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36776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4727448" cy="2926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Citation counts are a noisy proxy for research impact.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Thresholds are dataset-specific.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TF-IDF captures word patterns, not deep semantics.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Only a limited set of metadata features is used.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Current model scores are modest.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749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352044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36776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NEXT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39112"/>
            <a:ext cx="4727448" cy="29260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Compare class-wise precision, recall and F1.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Tune hyperparameters using validation data.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Add venue, topic and paper-age features where reliable.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Try pretrained scientific-text embeddings.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3242"/>
                </a:solidFill>
                <a:latin typeface="Aptos"/>
              </a:rPr>
              <a:t>• Test alternative thresholds and robustness.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94960"/>
            <a:ext cx="10515600" cy="4572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22038"/>
                </a:solidFill>
                <a:latin typeface="Aptos"/>
              </a:rPr>
              <a:t>Important: do not claim future-citation forecasting unless the target is explicitly defined using citations observed after a prediction date.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Reproducibility and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A short walkthrough of the working Colab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0292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3291840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36776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NOTEBOOK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4681728" cy="2697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1. Open the classification notebook.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2. Run cells from dataset loading through evaluation.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3. Show the feature pipeline and model cells.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4. Present the comparison table and confusion matrices.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292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64008" cy="3291840"/>
          </a:xfrm>
          <a:prstGeom prst="rect">
            <a:avLst/>
          </a:prstGeom>
          <a:solidFill>
            <a:srgbClr val="5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36776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LIVE DEMO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39112"/>
            <a:ext cx="4681728" cy="269748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Dataset split: 102,000 / 18,000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TF-IDF and metadata features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Three trained classifiers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263242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3242"/>
                </a:solidFill>
                <a:latin typeface="Aptos"/>
              </a:rPr>
              <a:t>• Results table and confusion matrices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42416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47384"/>
                </a:solidFill>
                <a:latin typeface="Aptos"/>
              </a:rPr>
              <a:t>Add your GitHub repository URL here once the repository is ready.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22038"/>
                </a:solidFill>
                <a:latin typeface="Aptos"/>
              </a:rPr>
              <a:t>Conclusion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685800" cy="54864"/>
          </a:xfrm>
          <a:prstGeom prst="rect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384"/>
                </a:solidFill>
                <a:latin typeface="Aptos"/>
              </a:rPr>
              <a:t>Paper Citation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384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647384"/>
                </a:solidFill>
                <a:latin typeface="Aptos"/>
              </a:rPr>
              <a:t>UE24CS352A · MACHINE LEARNING · MINI-PROJECT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492240" cy="3200400"/>
          </a:xfrm>
          <a:prstGeom prst="round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92024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C3DC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5760720" cy="20574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We built a three-class classification pipeline using paper titles, abstracts and metadata.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TF-IDF converts text into features; metadata is encoded; three classifiers are compared on held-out test data.</a:t>
            </a:r>
          </a:p>
          <a:p>
            <a:pPr algn="l">
              <a:spcAft>
                <a:spcPts val="400"/>
              </a:spcAft>
            </a:pPr>
            <a:endParaRPr sz="1400" b="0" i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The Neural Network achieved the highest accuracy in this run, but the overall results show that citation categories remain challenging to predict with the current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00200"/>
            <a:ext cx="3657600" cy="3200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22038"/>
                </a:solidFill>
                <a:latin typeface="Aptos"/>
              </a:rPr>
              <a:t>REFERENCES / RESOURCES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0" y="2139696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82128" y="2057400"/>
            <a:ext cx="3547871" cy="7772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Exact dataset URL/version used in your notebook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2916936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8" y="2834640"/>
            <a:ext cx="3547871" cy="7772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scikit-learn documentation: TF-IDF, Naive Bayes, Random Forest, MLPClassifier and metrics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0" y="3694176"/>
            <a:ext cx="100584" cy="100584"/>
          </a:xfrm>
          <a:prstGeom prst="ellipse">
            <a:avLst/>
          </a:prstGeom>
          <a:solidFill>
            <a:srgbClr val="22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8" y="3611880"/>
            <a:ext cx="3547871" cy="7772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3242"/>
                </a:solidFill>
                <a:latin typeface="Aptos"/>
              </a:rPr>
              <a:t>Stanford CS229 Paper Citation Classification report (methodological reference)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5760720" cy="54864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22B7A6"/>
                </a:solidFill>
                <a:latin typeface="Aptos"/>
              </a:rP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2190</Words>
  <Application>Microsoft Office PowerPoint</Application>
  <PresentationFormat>Widescreen</PresentationFormat>
  <Paragraphs>384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chinni krishna puricherla</cp:lastModifiedBy>
  <cp:revision>3</cp:revision>
  <dcterms:created xsi:type="dcterms:W3CDTF">2013-01-27T09:14:16Z</dcterms:created>
  <dcterms:modified xsi:type="dcterms:W3CDTF">2026-10-12T16:55:20Z</dcterms:modified>
  <cp:category/>
</cp:coreProperties>
</file>